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2"/>
  </p:notesMasterIdLst>
  <p:sldIdLst>
    <p:sldId id="283" r:id="rId2"/>
    <p:sldId id="257" r:id="rId3"/>
    <p:sldId id="282" r:id="rId4"/>
    <p:sldId id="285" r:id="rId5"/>
    <p:sldId id="278" r:id="rId6"/>
    <p:sldId id="281" r:id="rId7"/>
    <p:sldId id="279" r:id="rId8"/>
    <p:sldId id="291" r:id="rId9"/>
    <p:sldId id="262" r:id="rId10"/>
    <p:sldId id="264" r:id="rId11"/>
    <p:sldId id="290" r:id="rId12"/>
    <p:sldId id="292" r:id="rId13"/>
    <p:sldId id="293" r:id="rId14"/>
    <p:sldId id="286" r:id="rId15"/>
    <p:sldId id="287" r:id="rId16"/>
    <p:sldId id="280" r:id="rId17"/>
    <p:sldId id="288" r:id="rId18"/>
    <p:sldId id="289" r:id="rId19"/>
    <p:sldId id="294" r:id="rId20"/>
    <p:sldId id="276" r:id="rId21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7" roundtripDataSignature="AMtx7mjt3491jQ7aCoyIz2WXeHKroE7tp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37A25B-DA5D-A37C-3B36-7F0977405ABF}" v="154" dt="2026-06-19T05:59:42.731"/>
    <p1510:client id="{088AD18C-7811-B1E2-9ED5-57A1A5542DF6}" v="456" dt="2026-06-19T06:28:44.546"/>
  </p1510:revLst>
</p1510:revInfo>
</file>

<file path=ppt/tableStyles.xml><?xml version="1.0" encoding="utf-8"?>
<a:tblStyleLst xmlns:a="http://schemas.openxmlformats.org/drawingml/2006/main" def="{0AAD8F4D-43EB-41E5-8A38-28AB6DFB1B60}">
  <a:tblStyle styleId="{0AAD8F4D-43EB-41E5-8A38-28AB6DFB1B6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53" d="100"/>
          <a:sy n="53" d="100"/>
        </p:scale>
        <p:origin x="1392" y="3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32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customschemas.google.com/relationships/presentationmetadata" Target="meta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48C2B95B-FB15-C156-6AF1-35B3581816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770A13E9-BC77-63DA-E106-A3FA802281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29067B0F-2F4F-7081-A661-0AE31BFBB7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55410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E37D20EF-0791-5303-F96E-0F0C1B50B7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9DCBA8EB-6D71-7B5E-841C-4BFFBDA5F1B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5C2CD162-5BE5-06C8-E06C-B4A49D4BCFF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13540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>
          <a:extLst>
            <a:ext uri="{FF2B5EF4-FFF2-40B4-BE49-F238E27FC236}">
              <a16:creationId xmlns:a16="http://schemas.microsoft.com/office/drawing/2014/main" id="{11626E4B-E119-2382-6F8F-518641144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>
            <a:extLst>
              <a:ext uri="{FF2B5EF4-FFF2-40B4-BE49-F238E27FC236}">
                <a16:creationId xmlns:a16="http://schemas.microsoft.com/office/drawing/2014/main" id="{01A6FF9F-971F-6CD8-61F5-25638A5985F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0:notes">
            <a:extLst>
              <a:ext uri="{FF2B5EF4-FFF2-40B4-BE49-F238E27FC236}">
                <a16:creationId xmlns:a16="http://schemas.microsoft.com/office/drawing/2014/main" id="{C8EB5C80-6A4B-AE05-9BE0-03B5AF5C22A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27365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>
          <a:extLst>
            <a:ext uri="{FF2B5EF4-FFF2-40B4-BE49-F238E27FC236}">
              <a16:creationId xmlns:a16="http://schemas.microsoft.com/office/drawing/2014/main" id="{59B870D7-ED5B-C7CD-FB99-2991954CAA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:notes">
            <a:extLst>
              <a:ext uri="{FF2B5EF4-FFF2-40B4-BE49-F238E27FC236}">
                <a16:creationId xmlns:a16="http://schemas.microsoft.com/office/drawing/2014/main" id="{C8B270BB-F67C-52E3-249C-6FE0C237CA9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5:notes">
            <a:extLst>
              <a:ext uri="{FF2B5EF4-FFF2-40B4-BE49-F238E27FC236}">
                <a16:creationId xmlns:a16="http://schemas.microsoft.com/office/drawing/2014/main" id="{151B863E-6240-36E9-EB23-2DAA667D251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98578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279463AA-D7FA-5F7E-C4D0-06BDEDCBB9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A84E3171-2C5C-8738-5718-5608CE1B13A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E16E406D-2512-5EF2-0167-6C895346954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49666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8E9CB32A-B328-07DF-4F33-E0118C920B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8BD392DC-EA03-14B5-7A53-AC36124B41C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F90BE8D5-07EC-73D0-0A62-4778024FF05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420779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4F18774C-544B-0071-4FA9-86D0ADEC5A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68645894-EE59-A5F4-D411-C82EB564E1C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FEE489F0-0910-6D8B-0254-C25DB088272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735855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BB47F127-39C9-4CE0-52A6-66BD53AE96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57CB72F8-8B0E-1466-D091-917F3E75592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1CEA3A31-DD75-5F0D-19FB-8192F5E7F99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587127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>
          <a:extLst>
            <a:ext uri="{FF2B5EF4-FFF2-40B4-BE49-F238E27FC236}">
              <a16:creationId xmlns:a16="http://schemas.microsoft.com/office/drawing/2014/main" id="{C2F88CF5-D0C3-0228-6C1A-E849738B9B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>
            <a:extLst>
              <a:ext uri="{FF2B5EF4-FFF2-40B4-BE49-F238E27FC236}">
                <a16:creationId xmlns:a16="http://schemas.microsoft.com/office/drawing/2014/main" id="{15C41DBA-EB5E-9EB1-28D2-68EF3081A29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0:notes">
            <a:extLst>
              <a:ext uri="{FF2B5EF4-FFF2-40B4-BE49-F238E27FC236}">
                <a16:creationId xmlns:a16="http://schemas.microsoft.com/office/drawing/2014/main" id="{9AACA92E-BC74-25E5-B8D5-2E658F81C2F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758711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A795C14E-5D6A-39A3-2018-2C72BB451B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85B8BB2F-0927-3841-AC64-CC67B503586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58797E72-A3BC-0A49-07C4-DE7FDA75236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207868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466C47D1-19F6-52AF-3914-DD3C990589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ACA1F779-4C2B-4CD1-FBDD-A40F0A3223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40004D30-6E86-E263-D5DA-7577B1C759B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216939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5" name="Google Shape;305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2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2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2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2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2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3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64" name="Google Shape;64;p3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3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3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3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3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3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3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2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97BF8-B3EC-77A2-9BFD-D66830272D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6600" b="1" dirty="0"/>
              <a:t>IBM University Engagement Project Submission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AB85A1-2169-FF43-3E91-E2E8ADA742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14730" y="3903663"/>
            <a:ext cx="10515600" cy="1500187"/>
          </a:xfrm>
        </p:spPr>
        <p:txBody>
          <a:bodyPr/>
          <a:lstStyle/>
          <a:p>
            <a:pPr algn="ctr"/>
            <a:r>
              <a:rPr lang="en-US" b="1" i="1" dirty="0"/>
              <a:t>“Exploring the Power of Agentic AI with IBM Granite and IBM Bob”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575646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"/>
          <p:cNvSpPr/>
          <p:nvPr/>
        </p:nvSpPr>
        <p:spPr>
          <a:xfrm>
            <a:off x="690624" y="4425370"/>
            <a:ext cx="10795794" cy="199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endParaRPr sz="15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5" name="Google Shape;95;p2"/>
          <p:cNvSpPr txBox="1"/>
          <p:nvPr/>
        </p:nvSpPr>
        <p:spPr>
          <a:xfrm>
            <a:off x="1102321" y="1174639"/>
            <a:ext cx="7426406" cy="451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Times New Roman"/>
              <a:buNone/>
            </a:pPr>
            <a:endParaRPr sz="3200" b="1" i="0" u="none" strike="noStrike" cap="none">
              <a:solidFill>
                <a:srgbClr val="002060"/>
              </a:solidFill>
              <a:latin typeface="+mj-lt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96" name="Google Shape;96;p2"/>
          <p:cNvGraphicFramePr/>
          <p:nvPr>
            <p:extLst>
              <p:ext uri="{D42A27DB-BD31-4B8C-83A1-F6EECF244321}">
                <p14:modId xmlns:p14="http://schemas.microsoft.com/office/powerpoint/2010/main" val="2670590988"/>
              </p:ext>
            </p:extLst>
          </p:nvPr>
        </p:nvGraphicFramePr>
        <p:xfrm>
          <a:off x="840948" y="2631859"/>
          <a:ext cx="10795794" cy="3289245"/>
        </p:xfrm>
        <a:graphic>
          <a:graphicData uri="http://schemas.openxmlformats.org/drawingml/2006/table">
            <a:tbl>
              <a:tblPr>
                <a:noFill/>
                <a:tableStyleId>{0AAD8F4D-43EB-41E5-8A38-28AB6DFB1B60}</a:tableStyleId>
              </a:tblPr>
              <a:tblGrid>
                <a:gridCol w="23727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076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0768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80768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477169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/>
                        <a:t>Student Name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/>
                        <a:t>Recent Passport Photo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Email ID 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Mobile number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[WhatsApp] 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12076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br>
                        <a:rPr lang="en-US" dirty="0"/>
                      </a:br>
                      <a:r>
                        <a:rPr lang="en-US" dirty="0"/>
                        <a:t>    Sailaja Kaisarla</a:t>
                      </a: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/>
                    </a:p>
                  </a:txBody>
                  <a:tcPr marL="91450" marR="91450" marT="45725" marB="4572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br>
                        <a:rPr lang="en-US" dirty="0"/>
                      </a:br>
                      <a:r>
                        <a:rPr lang="en-US" dirty="0"/>
                        <a:t> sailajakaisarla@gmail.com</a:t>
                      </a: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     </a:t>
                      </a:r>
                      <a:br>
                        <a:rPr lang="en-US" dirty="0"/>
                      </a:br>
                      <a:r>
                        <a:rPr lang="en-US" dirty="0"/>
                        <a:t>          9542327292</a:t>
                      </a: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A828B9EF-C084-F5D4-CA27-75AF7D995640}"/>
              </a:ext>
            </a:extLst>
          </p:cNvPr>
          <p:cNvSpPr txBox="1"/>
          <p:nvPr/>
        </p:nvSpPr>
        <p:spPr>
          <a:xfrm>
            <a:off x="1206164" y="1460724"/>
            <a:ext cx="102802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Domain of  Project – </a:t>
            </a:r>
            <a:r>
              <a:rPr lang="en-IN" sz="2800" dirty="0">
                <a:highlight>
                  <a:srgbClr val="FFFF00"/>
                </a:highlight>
              </a:rPr>
              <a:t>Law &amp; Justice (Legal Technology)</a:t>
            </a:r>
            <a:endParaRPr lang="en-IN" sz="2800" b="1" dirty="0">
              <a:highlight>
                <a:srgbClr val="FFFF00"/>
              </a:highlight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D723CA3-EC2D-165A-F109-3759C4E9C8A4}"/>
              </a:ext>
            </a:extLst>
          </p:cNvPr>
          <p:cNvSpPr txBox="1"/>
          <p:nvPr/>
        </p:nvSpPr>
        <p:spPr>
          <a:xfrm>
            <a:off x="1206162" y="551965"/>
            <a:ext cx="95811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Project Title – </a:t>
            </a:r>
            <a:r>
              <a:rPr lang="en-IN" sz="2800" dirty="0">
                <a:highlight>
                  <a:srgbClr val="FFFF00"/>
                </a:highlight>
              </a:rPr>
              <a:t>AI Legal Aid Multi-Agent System </a:t>
            </a:r>
            <a:endParaRPr lang="en-IN" sz="2800" b="1" dirty="0">
              <a:highlight>
                <a:srgbClr val="FFFF00"/>
              </a:highlight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3BE4842-AAA1-AE44-ADCD-8ED97F3B5B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4448" y="4276481"/>
            <a:ext cx="2194560" cy="148677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F4C0A7C6-2888-EA53-35AB-4072E6B1FD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6F6745E-14BA-0766-CE1E-32E29663832D}"/>
              </a:ext>
            </a:extLst>
          </p:cNvPr>
          <p:cNvSpPr txBox="1"/>
          <p:nvPr/>
        </p:nvSpPr>
        <p:spPr>
          <a:xfrm>
            <a:off x="792480" y="721066"/>
            <a:ext cx="11399520" cy="65556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en-US" sz="2400" b="1" dirty="0"/>
              <a:t>Problem Statement : </a:t>
            </a:r>
            <a:r>
              <a:rPr lang="en-IN" sz="2000" dirty="0"/>
              <a:t>AI Legal Aid Multi-Agent System </a:t>
            </a:r>
          </a:p>
          <a:p>
            <a:pPr fontAlgn="base"/>
            <a:endParaRPr lang="en-US" b="1" dirty="0"/>
          </a:p>
          <a:p>
            <a:pPr fontAlgn="base"/>
            <a:r>
              <a:rPr lang="en-US" sz="2400" b="1" u="sng" dirty="0"/>
              <a:t>The Challenge</a:t>
            </a:r>
            <a:r>
              <a:rPr lang="en-US" sz="2400" u="sng" dirty="0"/>
              <a:t> 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Legal services are expensive, complex, and difficult to access.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Users struggle to understand legal documents, contracts, and compliance without real-time guidance.</a:t>
            </a:r>
          </a:p>
          <a:p>
            <a:pPr fontAlgn="base"/>
            <a:endParaRPr lang="en-US" dirty="0"/>
          </a:p>
          <a:p>
            <a:r>
              <a:rPr lang="en-US" sz="2400" b="1" u="sng" dirty="0"/>
              <a:t>The Objective</a:t>
            </a:r>
            <a:r>
              <a:rPr lang="en-US" sz="2400" u="sng" dirty="0"/>
              <a:t> </a:t>
            </a:r>
            <a:br>
              <a:rPr lang="en-US" sz="2400" u="sng" dirty="0"/>
            </a:br>
            <a:r>
              <a:rPr lang="en-IN" sz="2000" dirty="0"/>
              <a:t>Build an </a:t>
            </a:r>
            <a:r>
              <a:rPr lang="en-IN" sz="2000" b="1" dirty="0"/>
              <a:t>AI-powered Multi-Agent Legal Aid System</a:t>
            </a:r>
            <a:r>
              <a:rPr lang="en-IN" sz="2000" dirty="0"/>
              <a:t> that simplifies legal assistance through </a:t>
            </a:r>
            <a:r>
              <a:rPr lang="en-IN" sz="2000" b="1" dirty="0"/>
              <a:t>RAG, document analysis, and intelligent AI agents</a:t>
            </a:r>
            <a:r>
              <a:rPr lang="en-IN" sz="2000" dirty="0"/>
              <a:t> for faster, accurate, and user-friendly legal support.</a:t>
            </a:r>
          </a:p>
          <a:p>
            <a:br>
              <a:rPr lang="en-US" sz="2000" dirty="0"/>
            </a:br>
            <a:r>
              <a:rPr lang="en-IN" sz="2200" b="1" dirty="0"/>
              <a:t>Features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IN" sz="2000" b="1" dirty="0"/>
              <a:t>Multi-Agent Legal Assistance</a:t>
            </a:r>
            <a:r>
              <a:rPr lang="en-IN" sz="2000" dirty="0"/>
              <a:t> – Specialized AI agents for legal Q&amp;A, contract review, compliance checking, and case research using RAG-based legal knowledge. 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IN" sz="2000" b="1" dirty="0"/>
              <a:t>Document Intelligence &amp; Analysis</a:t>
            </a:r>
            <a:r>
              <a:rPr lang="en-IN" sz="2000" dirty="0"/>
              <a:t> – Upload contracts, agreements, notices, and policies to extract key clauses, identify obligations, detect risks, and generate legal insights. 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IN" sz="2000" b="1" dirty="0"/>
              <a:t>Interactive Legal Dashboard</a:t>
            </a:r>
            <a:r>
              <a:rPr lang="en-IN" sz="2000" dirty="0"/>
              <a:t> – A user-friendly dashboard to manage consultations, documents, legal reports, notifications,</a:t>
            </a:r>
            <a:br>
              <a:rPr lang="en-IN" sz="2000" dirty="0"/>
            </a:br>
            <a:r>
              <a:rPr lang="en-IN" sz="2000" dirty="0"/>
              <a:t>Sign In and Sign Up, case history, and AI-powered recommendations with downloadable reports.</a:t>
            </a:r>
          </a:p>
          <a:p>
            <a:pPr fontAlgn="base"/>
            <a:endParaRPr lang="en-US" sz="2400" u="sng" dirty="0"/>
          </a:p>
          <a:p>
            <a:pPr fontAlgn="base"/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847FA31-EA47-D27A-9D69-AF50A3080AEC}"/>
              </a:ext>
            </a:extLst>
          </p:cNvPr>
          <p:cNvSpPr txBox="1"/>
          <p:nvPr/>
        </p:nvSpPr>
        <p:spPr>
          <a:xfrm>
            <a:off x="0" y="151638"/>
            <a:ext cx="72146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Problem Statement -</a:t>
            </a:r>
            <a:endParaRPr lang="en-IN" sz="2800" b="1" dirty="0"/>
          </a:p>
        </p:txBody>
      </p:sp>
    </p:spTree>
    <p:extLst>
      <p:ext uri="{BB962C8B-B14F-4D97-AF65-F5344CB8AC3E}">
        <p14:creationId xmlns:p14="http://schemas.microsoft.com/office/powerpoint/2010/main" val="29525842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0471B467-61AA-7BCA-460D-43041E805F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A1BF701-ABCA-4DF0-8330-B6AF71EF8E39}"/>
              </a:ext>
            </a:extLst>
          </p:cNvPr>
          <p:cNvSpPr txBox="1"/>
          <p:nvPr/>
        </p:nvSpPr>
        <p:spPr>
          <a:xfrm>
            <a:off x="908245" y="907854"/>
            <a:ext cx="11109198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Proposed Solution: AI-Powered Legal Aid Multi-Agent System</a:t>
            </a:r>
            <a:endParaRPr lang="en-IN" sz="2400" dirty="0"/>
          </a:p>
          <a:p>
            <a:r>
              <a:rPr lang="en-IN" sz="2000" dirty="0"/>
              <a:t>           An AI-powered legal platform built with </a:t>
            </a:r>
            <a:r>
              <a:rPr lang="en-IN" sz="2000" b="1" dirty="0"/>
              <a:t>IBM watsonx.ai, Granite Models, Watsonx Runtime, and RAG</a:t>
            </a:r>
            <a:r>
              <a:rPr lang="en-IN" sz="2000" dirty="0"/>
              <a:t> to provide accessible legal assistance through specialized AI agents.</a:t>
            </a:r>
            <a:br>
              <a:rPr lang="en-IN" sz="2000" dirty="0"/>
            </a:br>
            <a:endParaRPr lang="en-IN" sz="2000" dirty="0"/>
          </a:p>
          <a:p>
            <a:r>
              <a:rPr lang="en-IN" sz="2000" b="1" u="sng" dirty="0"/>
              <a:t>Key Features</a:t>
            </a:r>
          </a:p>
          <a:p>
            <a:endParaRPr lang="en-IN" sz="2000" u="sng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Legal Information Retrieval (RAG):</a:t>
            </a:r>
            <a:r>
              <a:rPr lang="en-IN" sz="2000" dirty="0"/>
              <a:t> Retrieves and summarizes laws, regulations, and case precedents from trusted legal sources.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Specialized AI Agents:</a:t>
            </a:r>
            <a:r>
              <a:rPr lang="en-IN" sz="2000" dirty="0"/>
              <a:t> Supports legal research, contract review, compliance checking, document analysis, and legal assistance.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Document Intelligence:</a:t>
            </a:r>
            <a:r>
              <a:rPr lang="en-IN" sz="2000" dirty="0"/>
              <a:t> Analyses legal documents, detects risks, verifies compliance, and generates reports.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Interactive Dashboard:</a:t>
            </a:r>
            <a:r>
              <a:rPr lang="en-IN" sz="2000" dirty="0"/>
              <a:t> Enables document upload, legal search, AI chat, case tracking, and report management.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IBM watsonx.ai &amp; Granite Models:</a:t>
            </a:r>
            <a:r>
              <a:rPr lang="en-IN" sz="2000" dirty="0"/>
              <a:t> Provide accurate legal reasoning, summarization, Q&amp;A, and AI governance.</a:t>
            </a:r>
          </a:p>
          <a:p>
            <a:r>
              <a:rPr lang="en-IN" sz="2000" dirty="0"/>
              <a:t>Overall, A secure, scalable AI legal platform offering real-time legal guidance, document analysis, compliance verification, and intelligent legal support.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27F30CC-07EF-8FCC-DA00-C9212F5DAECE}"/>
              </a:ext>
            </a:extLst>
          </p:cNvPr>
          <p:cNvSpPr txBox="1"/>
          <p:nvPr/>
        </p:nvSpPr>
        <p:spPr>
          <a:xfrm>
            <a:off x="156972" y="208788"/>
            <a:ext cx="72146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Proposed Solution -</a:t>
            </a:r>
            <a:endParaRPr lang="en-IN" sz="2800" b="1" dirty="0"/>
          </a:p>
        </p:txBody>
      </p:sp>
    </p:spTree>
    <p:extLst>
      <p:ext uri="{BB962C8B-B14F-4D97-AF65-F5344CB8AC3E}">
        <p14:creationId xmlns:p14="http://schemas.microsoft.com/office/powerpoint/2010/main" val="22902949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>
          <a:extLst>
            <a:ext uri="{FF2B5EF4-FFF2-40B4-BE49-F238E27FC236}">
              <a16:creationId xmlns:a16="http://schemas.microsoft.com/office/drawing/2014/main" id="{7C2A09DE-0AE2-AA94-B2C1-84FDBDB9DC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51FBD4A-3273-E454-091D-D5B0678FC299}"/>
              </a:ext>
            </a:extLst>
          </p:cNvPr>
          <p:cNvSpPr txBox="1"/>
          <p:nvPr/>
        </p:nvSpPr>
        <p:spPr>
          <a:xfrm>
            <a:off x="777240" y="484632"/>
            <a:ext cx="7123176" cy="5232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800" b="1" dirty="0"/>
              <a:t>Technology Used</a:t>
            </a:r>
            <a:endParaRPr lang="en-IN" sz="28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A7608B5-9906-EFCF-959A-E89FC2E3EE19}"/>
              </a:ext>
            </a:extLst>
          </p:cNvPr>
          <p:cNvSpPr txBox="1"/>
          <p:nvPr/>
        </p:nvSpPr>
        <p:spPr>
          <a:xfrm>
            <a:off x="1339948" y="1242178"/>
            <a:ext cx="10515600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IBM Bob platform </a:t>
            </a:r>
            <a:r>
              <a:rPr lang="en-US" sz="2000" dirty="0"/>
              <a:t>-For designing and orchestrating multi-agent workflows visually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IBM </a:t>
            </a:r>
            <a:r>
              <a:rPr lang="en-US" sz="2000" b="1" dirty="0" err="1"/>
              <a:t>Grainte</a:t>
            </a:r>
            <a:r>
              <a:rPr lang="en-US" sz="2000" b="1" dirty="0"/>
              <a:t> model </a:t>
            </a:r>
            <a:r>
              <a:rPr lang="en-US" sz="2000" dirty="0"/>
              <a:t>-  for </a:t>
            </a:r>
            <a:r>
              <a:rPr lang="en-US" sz="2000" dirty="0" err="1"/>
              <a:t>eg</a:t>
            </a:r>
            <a:r>
              <a:rPr lang="en-US" sz="2000" dirty="0"/>
              <a:t> – ibm-granite-3-2-8b – For natural language understanding, reasoning, and personalization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IBM Cloud </a:t>
            </a:r>
            <a:r>
              <a:rPr lang="en-US" sz="2000" dirty="0"/>
              <a:t>– It provides the infrastructure to build, deploy, and scale the Nutrition Agent efficiently. IBM Cloud enables a </a:t>
            </a:r>
            <a:r>
              <a:rPr lang="en-US" sz="2000" b="1" dirty="0"/>
              <a:t>reliable, secure, and scalable environment</a:t>
            </a:r>
            <a:r>
              <a:rPr lang="en-US" sz="2000" dirty="0"/>
              <a:t> for deploying the Nutrition Agent.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RAG– </a:t>
            </a:r>
            <a:r>
              <a:rPr lang="en-US" sz="2000" dirty="0"/>
              <a:t>RAG to </a:t>
            </a:r>
            <a:r>
              <a:rPr lang="en-US" sz="2000" b="1" dirty="0"/>
              <a:t>fetch real data first, then generate intelligent answers</a:t>
            </a:r>
            <a:r>
              <a:rPr lang="en-US" sz="2000" dirty="0"/>
              <a:t>, making the Nutrition Agent more trustworthy and effective.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IBM Watsonx.ai - </a:t>
            </a:r>
            <a:r>
              <a:rPr lang="en-US" sz="2000" dirty="0"/>
              <a:t>For model deployment, embeddings, and AI governance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b="1" dirty="0"/>
              <a:t>Vector Database </a:t>
            </a:r>
            <a:r>
              <a:rPr lang="en-IN" sz="2000" dirty="0"/>
              <a:t>(FAISS/Chroma) – For RAG-based nutritional data retrieval</a:t>
            </a: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644058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>
          <a:extLst>
            <a:ext uri="{FF2B5EF4-FFF2-40B4-BE49-F238E27FC236}">
              <a16:creationId xmlns:a16="http://schemas.microsoft.com/office/drawing/2014/main" id="{CDF2A78E-5A0E-6814-8AF4-0AE54B0366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14022F2-777E-F47A-CF26-7BE3E307AC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62300" y="1062930"/>
            <a:ext cx="8823960" cy="5468115"/>
          </a:xfrm>
          <a:prstGeom prst="rect">
            <a:avLst/>
          </a:prstGeom>
        </p:spPr>
      </p:pic>
      <p:sp>
        <p:nvSpPr>
          <p:cNvPr id="135" name="Google Shape;135;p5">
            <a:extLst>
              <a:ext uri="{FF2B5EF4-FFF2-40B4-BE49-F238E27FC236}">
                <a16:creationId xmlns:a16="http://schemas.microsoft.com/office/drawing/2014/main" id="{2A145802-2DD3-EEBA-7D44-210C05B98C91}"/>
              </a:ext>
            </a:extLst>
          </p:cNvPr>
          <p:cNvSpPr/>
          <p:nvPr/>
        </p:nvSpPr>
        <p:spPr>
          <a:xfrm>
            <a:off x="357486" y="287913"/>
            <a:ext cx="6601764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800" b="1" dirty="0">
                <a:sym typeface="Times New Roman"/>
              </a:rPr>
              <a:t>Required Files created using IBM bob -</a:t>
            </a:r>
          </a:p>
        </p:txBody>
      </p:sp>
      <p:sp>
        <p:nvSpPr>
          <p:cNvPr id="148" name="Google Shape;148;p5">
            <a:extLst>
              <a:ext uri="{FF2B5EF4-FFF2-40B4-BE49-F238E27FC236}">
                <a16:creationId xmlns:a16="http://schemas.microsoft.com/office/drawing/2014/main" id="{69E3EADC-1EAD-7419-145C-20998925206E}"/>
              </a:ext>
            </a:extLst>
          </p:cNvPr>
          <p:cNvSpPr/>
          <p:nvPr/>
        </p:nvSpPr>
        <p:spPr>
          <a:xfrm>
            <a:off x="2264331" y="6784578"/>
            <a:ext cx="2140744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9" name="Google Shape;149;p5">
            <a:extLst>
              <a:ext uri="{FF2B5EF4-FFF2-40B4-BE49-F238E27FC236}">
                <a16:creationId xmlns:a16="http://schemas.microsoft.com/office/drawing/2014/main" id="{04E5872A-C331-C8F3-5D71-8E953BAAFE03}"/>
              </a:ext>
            </a:extLst>
          </p:cNvPr>
          <p:cNvSpPr/>
          <p:nvPr/>
        </p:nvSpPr>
        <p:spPr>
          <a:xfrm>
            <a:off x="1782604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0" name="Google Shape;150;p5">
            <a:extLst>
              <a:ext uri="{FF2B5EF4-FFF2-40B4-BE49-F238E27FC236}">
                <a16:creationId xmlns:a16="http://schemas.microsoft.com/office/drawing/2014/main" id="{76EF3801-5D99-5EFA-9AA2-AD265775E354}"/>
              </a:ext>
            </a:extLst>
          </p:cNvPr>
          <p:cNvSpPr/>
          <p:nvPr/>
        </p:nvSpPr>
        <p:spPr>
          <a:xfrm>
            <a:off x="5732383" y="6784578"/>
            <a:ext cx="1793915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1" name="Google Shape;151;p5">
            <a:extLst>
              <a:ext uri="{FF2B5EF4-FFF2-40B4-BE49-F238E27FC236}">
                <a16:creationId xmlns:a16="http://schemas.microsoft.com/office/drawing/2014/main" id="{DAD76A8A-9F2C-9EA9-25E9-40CD0FFAA869}"/>
              </a:ext>
            </a:extLst>
          </p:cNvPr>
          <p:cNvSpPr/>
          <p:nvPr/>
        </p:nvSpPr>
        <p:spPr>
          <a:xfrm>
            <a:off x="5077301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2" name="Google Shape;152;p5">
            <a:extLst>
              <a:ext uri="{FF2B5EF4-FFF2-40B4-BE49-F238E27FC236}">
                <a16:creationId xmlns:a16="http://schemas.microsoft.com/office/drawing/2014/main" id="{8D9C4260-2673-337C-C898-4C22E0F8FD65}"/>
              </a:ext>
            </a:extLst>
          </p:cNvPr>
          <p:cNvSpPr/>
          <p:nvPr/>
        </p:nvSpPr>
        <p:spPr>
          <a:xfrm>
            <a:off x="9027081" y="6784578"/>
            <a:ext cx="1793915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3" name="Google Shape;153;p5">
            <a:extLst>
              <a:ext uri="{FF2B5EF4-FFF2-40B4-BE49-F238E27FC236}">
                <a16:creationId xmlns:a16="http://schemas.microsoft.com/office/drawing/2014/main" id="{6167C3C6-3747-E373-84C3-3927C443B067}"/>
              </a:ext>
            </a:extLst>
          </p:cNvPr>
          <p:cNvSpPr/>
          <p:nvPr/>
        </p:nvSpPr>
        <p:spPr>
          <a:xfrm>
            <a:off x="8371999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BB86949-7ED1-C43B-B1E3-5122BB67A596}"/>
              </a:ext>
            </a:extLst>
          </p:cNvPr>
          <p:cNvSpPr txBox="1"/>
          <p:nvPr/>
        </p:nvSpPr>
        <p:spPr>
          <a:xfrm>
            <a:off x="645558" y="512167"/>
            <a:ext cx="5908284" cy="59400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endParaRPr lang="en-US" sz="2000" dirty="0"/>
          </a:p>
          <a:p>
            <a:pPr marL="342900" indent="-342900">
              <a:buFont typeface="+mj-lt"/>
              <a:buAutoNum type="arabicPeriod"/>
            </a:pPr>
            <a:r>
              <a:rPr lang="en-US" sz="2000" dirty="0"/>
              <a:t>app.py</a:t>
            </a:r>
          </a:p>
          <a:p>
            <a:pPr marL="342900" indent="-342900">
              <a:buFont typeface="+mj-lt"/>
              <a:buAutoNum type="arabicPeriod"/>
            </a:pPr>
            <a:endParaRPr lang="en-US" sz="2000" dirty="0"/>
          </a:p>
          <a:p>
            <a:pPr marL="342900" indent="-342900">
              <a:buFont typeface="+mj-lt"/>
              <a:buAutoNum type="arabicPeriod"/>
            </a:pPr>
            <a:r>
              <a:rPr lang="en-US" sz="2000" dirty="0"/>
              <a:t>requirements.txt</a:t>
            </a:r>
          </a:p>
          <a:p>
            <a:pPr marL="342900" indent="-342900">
              <a:buFont typeface="+mj-lt"/>
              <a:buAutoNum type="arabicPeriod"/>
            </a:pPr>
            <a:endParaRPr lang="en-US" sz="2000" dirty="0"/>
          </a:p>
          <a:p>
            <a:pPr marL="342900" indent="-342900">
              <a:buFont typeface="+mj-lt"/>
              <a:buAutoNum type="arabicPeriod"/>
            </a:pPr>
            <a:r>
              <a:rPr lang="en-IN" sz="2000" dirty="0"/>
              <a:t>dashboard.js</a:t>
            </a:r>
            <a:endParaRPr lang="en-US" sz="2000" dirty="0"/>
          </a:p>
          <a:p>
            <a:pPr marL="342900" indent="-342900">
              <a:buFont typeface="+mj-lt"/>
              <a:buAutoNum type="arabicPeriod"/>
            </a:pPr>
            <a:endParaRPr lang="en-US" sz="2000" dirty="0"/>
          </a:p>
          <a:p>
            <a:pPr marL="342900" indent="-342900">
              <a:buFont typeface="+mj-lt"/>
              <a:buAutoNum type="arabicPeriod"/>
            </a:pPr>
            <a:r>
              <a:rPr lang="en-US" sz="2000" dirty="0"/>
              <a:t>.env</a:t>
            </a:r>
          </a:p>
          <a:p>
            <a:pPr marL="342900" indent="-342900">
              <a:buFont typeface="+mj-lt"/>
              <a:buAutoNum type="arabicPeriod"/>
            </a:pPr>
            <a:endParaRPr lang="en-US" sz="2000" dirty="0"/>
          </a:p>
          <a:p>
            <a:pPr marL="342900" indent="-342900">
              <a:buFont typeface="+mj-lt"/>
              <a:buAutoNum type="arabicPeriod"/>
            </a:pPr>
            <a:r>
              <a:rPr lang="en-US" sz="2000" dirty="0"/>
              <a:t>index.html</a:t>
            </a:r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r>
              <a:rPr lang="en-US" sz="2000" dirty="0"/>
              <a:t> </a:t>
            </a:r>
            <a:endParaRPr lang="en-IN" sz="20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FFF7BC6-93D0-8D42-34B7-C226B1B96C2D}"/>
              </a:ext>
            </a:extLst>
          </p:cNvPr>
          <p:cNvSpPr/>
          <p:nvPr/>
        </p:nvSpPr>
        <p:spPr>
          <a:xfrm>
            <a:off x="4612706" y="1283318"/>
            <a:ext cx="5908284" cy="317232"/>
          </a:xfrm>
          <a:prstGeom prst="rect">
            <a:avLst/>
          </a:prstGeom>
          <a:solidFill>
            <a:srgbClr val="E71224">
              <a:alpha val="5000"/>
            </a:srgbClr>
          </a:solidFill>
          <a:ln w="72000">
            <a:solidFill>
              <a:srgbClr val="E7122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rgbClr val="E71224"/>
              </a:solidFill>
            </a:endParaRPr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A6C81E80-ED7B-4240-A8EE-0221D9ACD900}"/>
              </a:ext>
            </a:extLst>
          </p:cNvPr>
          <p:cNvSpPr/>
          <p:nvPr/>
        </p:nvSpPr>
        <p:spPr>
          <a:xfrm rot="8280234">
            <a:off x="6836511" y="894402"/>
            <a:ext cx="923544" cy="33832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85263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CA6090C0-0478-84F9-6D20-717B6FEB73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5;p5">
            <a:extLst>
              <a:ext uri="{FF2B5EF4-FFF2-40B4-BE49-F238E27FC236}">
                <a16:creationId xmlns:a16="http://schemas.microsoft.com/office/drawing/2014/main" id="{B64CF172-D2AF-03D8-F919-AA7827A0D969}"/>
              </a:ext>
            </a:extLst>
          </p:cNvPr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800" b="1" i="0" u="none" strike="noStrike" cap="none" dirty="0">
                <a:solidFill>
                  <a:srgbClr val="051D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IBM Bob Screenshots:</a:t>
            </a:r>
            <a:endParaRPr sz="2800" b="1" dirty="0">
              <a:sym typeface="Times New Roman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B0E3CCF-6511-E98B-F9AD-7C911E4162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2562" y="974504"/>
            <a:ext cx="10387914" cy="53425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25019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08D4A09-790C-E1A0-3048-1E4AE52F64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010" y="114503"/>
            <a:ext cx="10887980" cy="662899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1B29E16B-E8AD-3A7C-70BE-7E426E139E9E}"/>
              </a:ext>
            </a:extLst>
          </p:cNvPr>
          <p:cNvSpPr/>
          <p:nvPr/>
        </p:nvSpPr>
        <p:spPr>
          <a:xfrm>
            <a:off x="4493436" y="3536188"/>
            <a:ext cx="5908284" cy="317232"/>
          </a:xfrm>
          <a:prstGeom prst="rect">
            <a:avLst/>
          </a:prstGeom>
          <a:solidFill>
            <a:srgbClr val="E71224">
              <a:alpha val="5000"/>
            </a:srgbClr>
          </a:solidFill>
          <a:ln w="72000">
            <a:solidFill>
              <a:srgbClr val="E7122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rgbClr val="E71224"/>
              </a:solidFill>
            </a:endParaRPr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7B0CE5A1-7E97-424E-E8DB-A828B332CF03}"/>
              </a:ext>
            </a:extLst>
          </p:cNvPr>
          <p:cNvSpPr/>
          <p:nvPr/>
        </p:nvSpPr>
        <p:spPr>
          <a:xfrm rot="8280234">
            <a:off x="7658147" y="3152649"/>
            <a:ext cx="923544" cy="33832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23718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5;p5">
            <a:extLst>
              <a:ext uri="{FF2B5EF4-FFF2-40B4-BE49-F238E27FC236}">
                <a16:creationId xmlns:a16="http://schemas.microsoft.com/office/drawing/2014/main" id="{78578745-3233-E2C4-2AF4-55BA57C68D3F}"/>
              </a:ext>
            </a:extLst>
          </p:cNvPr>
          <p:cNvSpPr/>
          <p:nvPr/>
        </p:nvSpPr>
        <p:spPr>
          <a:xfrm>
            <a:off x="537590" y="323239"/>
            <a:ext cx="6383163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/>
            <a:r>
              <a:rPr lang="en-US" sz="2800" b="1" dirty="0">
                <a:solidFill>
                  <a:schemeClr val="dk1"/>
                </a:solidFill>
                <a:latin typeface="+mj-lt"/>
                <a:ea typeface="Calibri"/>
                <a:cs typeface="Calibri"/>
                <a:sym typeface="Calibri"/>
              </a:rPr>
              <a:t>Architecture blueprint for IBM bob:</a:t>
            </a:r>
            <a:endParaRPr lang="en-US" sz="2800" dirty="0">
              <a:latin typeface="+mj-lt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2FC846A-DDB1-EA3C-57C7-4F860AEC74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5243" y="1003564"/>
            <a:ext cx="10762551" cy="5369200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84A7B44-8B20-5A39-ED43-DA98D0FC7976}"/>
              </a:ext>
            </a:extLst>
          </p:cNvPr>
          <p:cNvSpPr txBox="1"/>
          <p:nvPr/>
        </p:nvSpPr>
        <p:spPr>
          <a:xfrm>
            <a:off x="0" y="41834"/>
            <a:ext cx="1134931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/>
              <a:t>Role of Agentic AI in the AI Legal Aid Multi-Agent System</a:t>
            </a:r>
            <a:endParaRPr lang="en-US" sz="3200" b="1" dirty="0"/>
          </a:p>
          <a:p>
            <a:endParaRPr lang="en-IN" sz="32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22462E8-EB3A-DA7D-44CB-4E757803A755}"/>
              </a:ext>
            </a:extLst>
          </p:cNvPr>
          <p:cNvSpPr txBox="1"/>
          <p:nvPr/>
        </p:nvSpPr>
        <p:spPr>
          <a:xfrm>
            <a:off x="233082" y="723878"/>
            <a:ext cx="8455241" cy="6247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b="1" dirty="0"/>
              <a:t>Legal Research (RAG)</a:t>
            </a:r>
            <a:r>
              <a:rPr lang="en-IN" sz="2000" dirty="0"/>
              <a:t> – Retrieves and summarizes relevant laws, regulations, and case precedents.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b="1" dirty="0"/>
              <a:t>Document Analysis</a:t>
            </a:r>
            <a:r>
              <a:rPr lang="en-IN" sz="2000" dirty="0"/>
              <a:t> – Identifies key clauses, obligations, risks, and inconsistencies in legal documents.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b="1" dirty="0"/>
              <a:t>Conversational Legal Assistant</a:t>
            </a:r>
            <a:r>
              <a:rPr lang="en-IN" sz="2000" dirty="0"/>
              <a:t> – Provides simple, AI-powered answers to legal queries.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b="1" dirty="0"/>
              <a:t>Contract Review</a:t>
            </a:r>
            <a:r>
              <a:rPr lang="en-IN" sz="2000" dirty="0"/>
              <a:t> – Detects risky or ambiguous clauses and suggests improvements.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b="1" dirty="0"/>
              <a:t>Compliance Checking</a:t>
            </a:r>
            <a:r>
              <a:rPr lang="en-IN" sz="2000" dirty="0"/>
              <a:t> – Verifies documents against legal and regulatory requirements.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b="1" dirty="0"/>
              <a:t>Case Research</a:t>
            </a:r>
            <a:r>
              <a:rPr lang="en-IN" sz="2000" dirty="0"/>
              <a:t> – Finds similar cases and generates legal insights.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b="1" dirty="0"/>
              <a:t>Multi-Agent Collaboration</a:t>
            </a:r>
            <a:r>
              <a:rPr lang="en-IN" sz="2000" dirty="0"/>
              <a:t> – Coordinates specialized AI agents for comprehensive legal assistance.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b="1" dirty="0"/>
              <a:t>Report Generation</a:t>
            </a:r>
            <a:r>
              <a:rPr lang="en-IN" sz="2000" dirty="0"/>
              <a:t> – Creates legal summaries, compliance reports, and recommendations.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b="1" dirty="0"/>
              <a:t>Personalized Guidance</a:t>
            </a:r>
            <a:r>
              <a:rPr lang="en-IN" sz="2000" dirty="0"/>
              <a:t> – Delivers context-aware legal support based on user documents and queries.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b="1" dirty="0"/>
              <a:t>24×7 AI Assistance</a:t>
            </a:r>
            <a:r>
              <a:rPr lang="en-IN" sz="2000" dirty="0"/>
              <a:t> – Provides instant legal guidance with appropriate legal disclaimers.</a:t>
            </a:r>
          </a:p>
          <a:p>
            <a:endParaRPr lang="en-US" sz="2000" b="1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76249900-618F-31BE-FFF3-2E9D17AA43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21405" y="896471"/>
            <a:ext cx="3037513" cy="5647764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1863F011-FD59-2782-3732-0E3263170F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78DA0257-5105-834D-150D-50732C7248D1}"/>
              </a:ext>
            </a:extLst>
          </p:cNvPr>
          <p:cNvSpPr/>
          <p:nvPr/>
        </p:nvSpPr>
        <p:spPr>
          <a:xfrm>
            <a:off x="409144" y="112960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57142"/>
              </a:lnSpc>
              <a:buClr>
                <a:srgbClr val="051D3A"/>
              </a:buClr>
              <a:buSzPts val="3500"/>
            </a:pPr>
            <a:r>
              <a:rPr lang="en-US" sz="2800" b="1" dirty="0">
                <a:sym typeface="Times New Roman"/>
              </a:rPr>
              <a:t> Project Output Screenshot</a:t>
            </a:r>
            <a:endParaRPr sz="2800" b="1" dirty="0"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827D77C8-2496-7668-B3B3-927FD4DB704D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46BDB3C0-B0E9-3C3A-A974-6BF43591F3FC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8CB1AEC3-7C17-0CCE-61FA-643373D6AE22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0184DDB-B625-0C0A-03D9-98D6F48799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9231" y="816976"/>
            <a:ext cx="10721577" cy="576370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4299618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A1254DC3-8448-76A3-8631-9484D98C80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A5DD5E73-E4F8-AB1C-5A5A-D4EBAD6FD1B8}"/>
              </a:ext>
            </a:extLst>
          </p:cNvPr>
          <p:cNvSpPr/>
          <p:nvPr/>
        </p:nvSpPr>
        <p:spPr>
          <a:xfrm>
            <a:off x="409144" y="112960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57142"/>
              </a:lnSpc>
              <a:buClr>
                <a:srgbClr val="051D3A"/>
              </a:buClr>
              <a:buSzPts val="3500"/>
            </a:pPr>
            <a:r>
              <a:rPr lang="en-US" sz="2800" b="1" dirty="0">
                <a:sym typeface="Times New Roman"/>
              </a:rPr>
              <a:t> Project Output Screenshot</a:t>
            </a:r>
            <a:endParaRPr sz="2800" b="1" dirty="0">
              <a:sym typeface="Times New Roman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01CC743B-AB97-F881-92EC-F336D8C8330F}"/>
              </a:ext>
            </a:extLst>
          </p:cNvPr>
          <p:cNvGrpSpPr/>
          <p:nvPr/>
        </p:nvGrpSpPr>
        <p:grpSpPr>
          <a:xfrm>
            <a:off x="991262" y="816977"/>
            <a:ext cx="10935286" cy="5676813"/>
            <a:chOff x="799991" y="1195902"/>
            <a:chExt cx="10935286" cy="5094674"/>
          </a:xfrm>
        </p:grpSpPr>
        <p:sp>
          <p:nvSpPr>
            <p:cNvPr id="280" name="Google Shape;280;p18">
              <a:extLst>
                <a:ext uri="{FF2B5EF4-FFF2-40B4-BE49-F238E27FC236}">
                  <a16:creationId xmlns:a16="http://schemas.microsoft.com/office/drawing/2014/main" id="{E6E4A7DC-3E1D-42C4-3256-8A3109D5036E}"/>
                </a:ext>
              </a:extLst>
            </p:cNvPr>
            <p:cNvSpPr/>
            <p:nvPr/>
          </p:nvSpPr>
          <p:spPr>
            <a:xfrm>
              <a:off x="1218724" y="3360216"/>
              <a:ext cx="7468553" cy="76604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62162"/>
                </a:lnSpc>
                <a:spcBef>
                  <a:spcPts val="0"/>
                </a:spcBef>
                <a:spcAft>
                  <a:spcPts val="0"/>
                </a:spcAft>
                <a:buClr>
                  <a:srgbClr val="2B3541"/>
                </a:buClr>
                <a:buSzPts val="1850"/>
                <a:buFont typeface="Times New Roman"/>
                <a:buNone/>
              </a:pPr>
              <a:r>
                <a:rPr lang="en-US" sz="1850" b="0" i="0" u="none" strike="noStrike" cap="none">
                  <a:solidFill>
                    <a:srgbClr val="2B354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·</a:t>
              </a:r>
              <a:endParaRPr sz="185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81" name="Google Shape;281;p18">
              <a:extLst>
                <a:ext uri="{FF2B5EF4-FFF2-40B4-BE49-F238E27FC236}">
                  <a16:creationId xmlns:a16="http://schemas.microsoft.com/office/drawing/2014/main" id="{1EC4E285-5561-2096-3270-252023A42F4B}"/>
                </a:ext>
              </a:extLst>
            </p:cNvPr>
            <p:cNvSpPr/>
            <p:nvPr/>
          </p:nvSpPr>
          <p:spPr>
            <a:xfrm>
              <a:off x="1218724" y="4395464"/>
              <a:ext cx="7468553" cy="76604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62162"/>
                </a:lnSpc>
                <a:spcBef>
                  <a:spcPts val="0"/>
                </a:spcBef>
                <a:spcAft>
                  <a:spcPts val="0"/>
                </a:spcAft>
                <a:buClr>
                  <a:srgbClr val="2B3541"/>
                </a:buClr>
                <a:buSzPts val="1850"/>
                <a:buFont typeface="Times New Roman"/>
                <a:buNone/>
              </a:pPr>
              <a:r>
                <a:rPr lang="en-US" sz="1850" b="0" i="0" u="none" strike="noStrike" cap="none">
                  <a:solidFill>
                    <a:srgbClr val="2B354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·</a:t>
              </a:r>
              <a:endParaRPr sz="185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82" name="Google Shape;282;p18">
              <a:extLst>
                <a:ext uri="{FF2B5EF4-FFF2-40B4-BE49-F238E27FC236}">
                  <a16:creationId xmlns:a16="http://schemas.microsoft.com/office/drawing/2014/main" id="{FA8B1B6D-C213-0DFE-C434-B14C5F9945F5}"/>
                </a:ext>
              </a:extLst>
            </p:cNvPr>
            <p:cNvSpPr/>
            <p:nvPr/>
          </p:nvSpPr>
          <p:spPr>
            <a:xfrm>
              <a:off x="1218724" y="5430713"/>
              <a:ext cx="7468553" cy="38302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62162"/>
                </a:lnSpc>
                <a:spcBef>
                  <a:spcPts val="0"/>
                </a:spcBef>
                <a:spcAft>
                  <a:spcPts val="0"/>
                </a:spcAft>
                <a:buClr>
                  <a:srgbClr val="2B3541"/>
                </a:buClr>
                <a:buSzPts val="1850"/>
                <a:buFont typeface="Times New Roman"/>
                <a:buNone/>
              </a:pPr>
              <a:r>
                <a:rPr lang="en-US" sz="1850" b="0" i="0" u="none" strike="noStrike" cap="none">
                  <a:solidFill>
                    <a:srgbClr val="2B354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·</a:t>
              </a:r>
              <a:endParaRPr sz="185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DF61517E-A7ED-8FC4-C066-9D83E98FFA9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894363" y="1195904"/>
              <a:ext cx="5840914" cy="509467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B6824445-277B-0641-F5F4-3FD280895A8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99991" y="1195902"/>
              <a:ext cx="5094372" cy="5094673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</p:grpSp>
    </p:spTree>
    <p:extLst>
      <p:ext uri="{BB962C8B-B14F-4D97-AF65-F5344CB8AC3E}">
        <p14:creationId xmlns:p14="http://schemas.microsoft.com/office/powerpoint/2010/main" val="35850923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E3C4AEBB-2963-4EEE-D8ED-E3B5ABCFF2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67AD5A0A-54A3-BC96-26BB-9C49B61555EC}"/>
              </a:ext>
            </a:extLst>
          </p:cNvPr>
          <p:cNvSpPr/>
          <p:nvPr/>
        </p:nvSpPr>
        <p:spPr>
          <a:xfrm>
            <a:off x="409144" y="112960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57142"/>
              </a:lnSpc>
              <a:buClr>
                <a:srgbClr val="051D3A"/>
              </a:buClr>
              <a:buSzPts val="3500"/>
            </a:pPr>
            <a:r>
              <a:rPr lang="en-US" sz="2800" b="1" dirty="0">
                <a:sym typeface="Times New Roman"/>
              </a:rPr>
              <a:t> Project Output Screenshot</a:t>
            </a:r>
            <a:endParaRPr sz="2800" b="1" dirty="0">
              <a:sym typeface="Times New Roman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A6ADA3F-805C-BCCE-1D87-0830C45636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759" y="884781"/>
            <a:ext cx="5236563" cy="5610147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948F447-616A-C907-8369-13C28CE69E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1322" y="816977"/>
            <a:ext cx="5071241" cy="561014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6019071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>
          <a:extLst>
            <a:ext uri="{FF2B5EF4-FFF2-40B4-BE49-F238E27FC236}">
              <a16:creationId xmlns:a16="http://schemas.microsoft.com/office/drawing/2014/main" id="{EEDEC80F-FA4E-F3FF-DE90-87B861D0BD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FA184BA-BCF2-3D7B-30D0-0F3CF30C161B}"/>
              </a:ext>
            </a:extLst>
          </p:cNvPr>
          <p:cNvSpPr txBox="1"/>
          <p:nvPr/>
        </p:nvSpPr>
        <p:spPr>
          <a:xfrm>
            <a:off x="311075" y="251549"/>
            <a:ext cx="71231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Novelty and Uniqueness</a:t>
            </a:r>
            <a:endParaRPr lang="en-IN" sz="28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D65F54F-855A-0DB6-09A6-3212C5F7405B}"/>
              </a:ext>
            </a:extLst>
          </p:cNvPr>
          <p:cNvSpPr txBox="1"/>
          <p:nvPr/>
        </p:nvSpPr>
        <p:spPr>
          <a:xfrm>
            <a:off x="890016" y="774769"/>
            <a:ext cx="11301984" cy="6247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/>
              <a:t>The proposed AI Legal Aid Multi Agent System stands out by combining </a:t>
            </a:r>
            <a:r>
              <a:rPr lang="en-IN" sz="2000" b="1" dirty="0"/>
              <a:t>Agentic AI, RAG, and personalization</a:t>
            </a:r>
            <a:r>
              <a:rPr lang="en-IN" sz="2000" dirty="0"/>
              <a:t> into a single intelligent system.</a:t>
            </a:r>
          </a:p>
          <a:p>
            <a:endParaRPr lang="en-IN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Multi-Agent AI System</a:t>
            </a:r>
            <a:r>
              <a:rPr lang="en-IN" sz="2000" dirty="0"/>
              <a:t> – Specialized AI agents collaborate to provide comprehensive legal assistance.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RAG-Powered Legal Intelligence</a:t>
            </a:r>
            <a:r>
              <a:rPr lang="en-IN" sz="2000" dirty="0"/>
              <a:t> – Combines Generative AI with RAG to deliver accurate, context-aware legal information from trusted sources.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All-in-One Legal Platform</a:t>
            </a:r>
            <a:r>
              <a:rPr lang="en-IN" sz="2000" dirty="0"/>
              <a:t> – Integrates legal consultation, document analysis, compliance checking, case research, AI chat, and report generation.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Smart Document Analysis</a:t>
            </a:r>
            <a:r>
              <a:rPr lang="en-IN" sz="2000" dirty="0"/>
              <a:t> – Identifies key clauses, legal risks, obligations, and provides actionable recommendations.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User-Friendly Legal Guidance</a:t>
            </a:r>
            <a:r>
              <a:rPr lang="en-IN" sz="2000" dirty="0"/>
              <a:t> – Simplifies complex legal language into clear, easy-to-understand explanations.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Interactive Decision Dashboard</a:t>
            </a:r>
            <a:r>
              <a:rPr lang="en-IN" sz="2000" dirty="0"/>
              <a:t> – Offers legal insights, case tracking, compliance status, and downloadable reports.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Scalable Modular Architecture</a:t>
            </a:r>
            <a:r>
              <a:rPr lang="en-IN" sz="2000" dirty="0"/>
              <a:t> – Easily extendable with new AI agents, legal domains, and regulations.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Powered by IBM Watsonx</a:t>
            </a:r>
            <a:r>
              <a:rPr lang="en-IN" sz="2000" dirty="0"/>
              <a:t> – Uses IBM Granite models and Agentic AI for secure, explainable, and enterprise-ready legal assistance.</a:t>
            </a:r>
          </a:p>
          <a:p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9179641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7BB3C0CA-2F24-30DF-1D65-4440B864F0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18">
            <a:extLst>
              <a:ext uri="{FF2B5EF4-FFF2-40B4-BE49-F238E27FC236}">
                <a16:creationId xmlns:a16="http://schemas.microsoft.com/office/drawing/2014/main" id="{3711AF54-94A6-B837-31EF-9A8C4ECB9AF6}"/>
              </a:ext>
            </a:extLst>
          </p:cNvPr>
          <p:cNvSpPr/>
          <p:nvPr/>
        </p:nvSpPr>
        <p:spPr>
          <a:xfrm>
            <a:off x="1827007" y="2171660"/>
            <a:ext cx="9898828" cy="27975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62162"/>
              </a:lnSpc>
              <a:buClr>
                <a:srgbClr val="2B3541"/>
              </a:buClr>
              <a:buSzPts val="1850"/>
            </a:pPr>
            <a:br>
              <a:rPr lang="en-US" sz="2000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000" b="1" dirty="0" err="1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Github</a:t>
            </a:r>
            <a:r>
              <a:rPr lang="en-US" sz="2000" b="1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URL </a:t>
            </a:r>
            <a:r>
              <a:rPr lang="en-US" sz="2000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– </a:t>
            </a:r>
            <a:r>
              <a:rPr lang="en-US" sz="2000" u="sng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https://github.com/sailajakaisarla/IBM-Bob-Project</a:t>
            </a:r>
            <a:br>
              <a:rPr lang="en-US" sz="2000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000" b="1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Drive Link </a:t>
            </a:r>
            <a:r>
              <a:rPr lang="en-US" sz="2000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–  </a:t>
            </a:r>
            <a:r>
              <a:rPr lang="en-US" sz="2000" u="sng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https://drive.google.com/file/d/1uDR4s-Mwo9r772fWTff7yXo5VZzG3JVK/view?usp=sharing</a:t>
            </a:r>
            <a:br>
              <a:rPr lang="en-US" sz="2000" u="sng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2000" b="0" i="0" u="sng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" name="Google Shape;278;p18">
            <a:extLst>
              <a:ext uri="{FF2B5EF4-FFF2-40B4-BE49-F238E27FC236}">
                <a16:creationId xmlns:a16="http://schemas.microsoft.com/office/drawing/2014/main" id="{E3E6EB1A-FD6C-1D04-8B68-742B261EC6DE}"/>
              </a:ext>
            </a:extLst>
          </p:cNvPr>
          <p:cNvSpPr/>
          <p:nvPr/>
        </p:nvSpPr>
        <p:spPr>
          <a:xfrm>
            <a:off x="1218724" y="1184727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800" b="1" dirty="0">
                <a:sym typeface="Times New Roman"/>
              </a:rPr>
              <a:t>Git Hub Link</a:t>
            </a:r>
            <a:endParaRPr sz="2800" b="1" dirty="0">
              <a:sym typeface="Times New Roman"/>
            </a:endParaRPr>
          </a:p>
        </p:txBody>
      </p:sp>
      <p:sp>
        <p:nvSpPr>
          <p:cNvPr id="5" name="Google Shape;280;p18">
            <a:extLst>
              <a:ext uri="{FF2B5EF4-FFF2-40B4-BE49-F238E27FC236}">
                <a16:creationId xmlns:a16="http://schemas.microsoft.com/office/drawing/2014/main" id="{EE1AA630-600E-4E6A-61E1-13F7B4105933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" name="Google Shape;282;p18">
            <a:extLst>
              <a:ext uri="{FF2B5EF4-FFF2-40B4-BE49-F238E27FC236}">
                <a16:creationId xmlns:a16="http://schemas.microsoft.com/office/drawing/2014/main" id="{9351017E-D9F6-F371-EC8C-E361086004ED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6058519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6FA0F82B-7EE5-EAB0-F470-130BDAC82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0668C6FD-577A-7288-5642-1AFC22BD04F2}"/>
              </a:ext>
            </a:extLst>
          </p:cNvPr>
          <p:cNvSpPr/>
          <p:nvPr/>
        </p:nvSpPr>
        <p:spPr>
          <a:xfrm>
            <a:off x="286395" y="202677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800" b="1" dirty="0">
                <a:sym typeface="Times New Roman"/>
              </a:rPr>
              <a:t>Future Scope </a:t>
            </a:r>
            <a:endParaRPr sz="2800" b="1" dirty="0">
              <a:sym typeface="Times New Roman"/>
            </a:endParaRPr>
          </a:p>
        </p:txBody>
      </p:sp>
      <p:sp>
        <p:nvSpPr>
          <p:cNvPr id="279" name="Google Shape;279;p18">
            <a:extLst>
              <a:ext uri="{FF2B5EF4-FFF2-40B4-BE49-F238E27FC236}">
                <a16:creationId xmlns:a16="http://schemas.microsoft.com/office/drawing/2014/main" id="{EAFA16CB-0A72-5AC5-69A0-ABF4A752B43F}"/>
              </a:ext>
            </a:extLst>
          </p:cNvPr>
          <p:cNvSpPr/>
          <p:nvPr/>
        </p:nvSpPr>
        <p:spPr>
          <a:xfrm>
            <a:off x="770965" y="884511"/>
            <a:ext cx="11421035" cy="427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lvl="0" indent="-342900">
              <a:lnSpc>
                <a:spcPct val="162162"/>
              </a:lnSpc>
              <a:buClr>
                <a:srgbClr val="2B3541"/>
              </a:buClr>
              <a:buSzPts val="1850"/>
              <a:buFont typeface="Arial" panose="020B0604020202020204" pitchFamily="34" charset="0"/>
              <a:buChar char="•"/>
            </a:pPr>
            <a:r>
              <a:rPr lang="en-IN" sz="1900" b="1" dirty="0"/>
              <a:t>Government Legal Integration</a:t>
            </a:r>
            <a:r>
              <a:rPr lang="en-IN" sz="1900" dirty="0"/>
              <a:t> – Connect with legal databases for real-time laws, amendments, judgments, and case updates. </a:t>
            </a:r>
          </a:p>
          <a:p>
            <a:pPr marL="342900" lvl="0" indent="-342900">
              <a:lnSpc>
                <a:spcPct val="162162"/>
              </a:lnSpc>
              <a:buClr>
                <a:srgbClr val="2B3541"/>
              </a:buClr>
              <a:buSzPts val="1850"/>
              <a:buFont typeface="Arial" panose="020B0604020202020204" pitchFamily="34" charset="0"/>
              <a:buChar char="•"/>
            </a:pPr>
            <a:r>
              <a:rPr lang="en-IN" sz="1900" b="1" dirty="0"/>
              <a:t>Voice &amp; Multilingual Support</a:t>
            </a:r>
            <a:r>
              <a:rPr lang="en-IN" sz="1900" dirty="0"/>
              <a:t> – Enable voice interaction and support multiple regional languages. </a:t>
            </a:r>
          </a:p>
          <a:p>
            <a:pPr marL="342900" lvl="0" indent="-342900">
              <a:lnSpc>
                <a:spcPct val="162162"/>
              </a:lnSpc>
              <a:buClr>
                <a:srgbClr val="2B3541"/>
              </a:buClr>
              <a:buSzPts val="1850"/>
              <a:buFont typeface="Arial" panose="020B0604020202020204" pitchFamily="34" charset="0"/>
              <a:buChar char="•"/>
            </a:pPr>
            <a:r>
              <a:rPr lang="en-IN" sz="1900" b="1" dirty="0"/>
              <a:t>AI Legal Document Drafting</a:t>
            </a:r>
            <a:r>
              <a:rPr lang="en-IN" sz="1900" dirty="0"/>
              <a:t> – Automatically generate agreements, notices, affidavits, and legal documents. </a:t>
            </a:r>
          </a:p>
          <a:p>
            <a:pPr marL="342900" lvl="0" indent="-342900">
              <a:lnSpc>
                <a:spcPct val="162162"/>
              </a:lnSpc>
              <a:buClr>
                <a:srgbClr val="2B3541"/>
              </a:buClr>
              <a:buSzPts val="1850"/>
              <a:buFont typeface="Arial" panose="020B0604020202020204" pitchFamily="34" charset="0"/>
              <a:buChar char="•"/>
            </a:pPr>
            <a:r>
              <a:rPr lang="en-IN" sz="1900" b="1" dirty="0"/>
              <a:t>Lawyer Consultation</a:t>
            </a:r>
            <a:r>
              <a:rPr lang="en-IN" sz="1900" dirty="0"/>
              <a:t> – Connect users with verified legal professionals for expert guidance. </a:t>
            </a:r>
          </a:p>
          <a:p>
            <a:pPr marL="342900" lvl="0" indent="-342900">
              <a:lnSpc>
                <a:spcPct val="162162"/>
              </a:lnSpc>
              <a:buClr>
                <a:srgbClr val="2B3541"/>
              </a:buClr>
              <a:buSzPts val="1850"/>
              <a:buFont typeface="Arial" panose="020B0604020202020204" pitchFamily="34" charset="0"/>
              <a:buChar char="•"/>
            </a:pPr>
            <a:r>
              <a:rPr lang="en-IN" sz="1900" b="1" dirty="0"/>
              <a:t>Predictive Legal Analytics</a:t>
            </a:r>
            <a:r>
              <a:rPr lang="en-IN" sz="1900" dirty="0"/>
              <a:t> – Predict case outcomes, legal risks, and timelines using AI. </a:t>
            </a:r>
          </a:p>
          <a:p>
            <a:pPr marL="342900" lvl="0" indent="-342900">
              <a:lnSpc>
                <a:spcPct val="162162"/>
              </a:lnSpc>
              <a:buClr>
                <a:srgbClr val="2B3541"/>
              </a:buClr>
              <a:buSzPts val="1850"/>
              <a:buFont typeface="Arial" panose="020B0604020202020204" pitchFamily="34" charset="0"/>
              <a:buChar char="•"/>
            </a:pPr>
            <a:r>
              <a:rPr lang="en-IN" sz="1900" b="1" dirty="0"/>
              <a:t>Automated Compliance Monitoring</a:t>
            </a:r>
            <a:r>
              <a:rPr lang="en-IN" sz="1900" dirty="0"/>
              <a:t> – Track regulatory changes and notify users of compliance risks.</a:t>
            </a:r>
          </a:p>
          <a:p>
            <a:pPr marL="342900" lvl="0" indent="-342900">
              <a:lnSpc>
                <a:spcPct val="162162"/>
              </a:lnSpc>
              <a:buClr>
                <a:srgbClr val="2B3541"/>
              </a:buClr>
              <a:buSzPts val="1850"/>
              <a:buFont typeface="Arial" panose="020B0604020202020204" pitchFamily="34" charset="0"/>
              <a:buChar char="•"/>
            </a:pPr>
            <a:r>
              <a:rPr lang="en-IN" sz="1900" b="1" dirty="0"/>
              <a:t>Blockchain Document Verification</a:t>
            </a:r>
            <a:r>
              <a:rPr lang="en-IN" sz="1900" dirty="0"/>
              <a:t> – Securely verify and protect legal documents from tampering. </a:t>
            </a:r>
          </a:p>
          <a:p>
            <a:pPr marL="342900" lvl="0" indent="-342900">
              <a:lnSpc>
                <a:spcPct val="162162"/>
              </a:lnSpc>
              <a:buClr>
                <a:srgbClr val="2B3541"/>
              </a:buClr>
              <a:buSzPts val="1850"/>
              <a:buFont typeface="Arial" panose="020B0604020202020204" pitchFamily="34" charset="0"/>
              <a:buChar char="•"/>
            </a:pPr>
            <a:r>
              <a:rPr lang="en-IN" sz="1900" b="1" dirty="0"/>
              <a:t>Smart Case Tracking</a:t>
            </a:r>
            <a:r>
              <a:rPr lang="en-IN" sz="1900" dirty="0"/>
              <a:t> – Monitor court case status, hearings, and legal deadlines with notifications.</a:t>
            </a:r>
          </a:p>
          <a:p>
            <a:pPr marL="342900" lvl="0" indent="-342900">
              <a:lnSpc>
                <a:spcPct val="162162"/>
              </a:lnSpc>
              <a:buClr>
                <a:srgbClr val="2B3541"/>
              </a:buClr>
              <a:buSzPts val="1850"/>
              <a:buFont typeface="Arial" panose="020B0604020202020204" pitchFamily="34" charset="0"/>
              <a:buChar char="•"/>
            </a:pPr>
            <a:r>
              <a:rPr lang="en-IN" sz="1900" b="1" dirty="0"/>
              <a:t>Explainable AI</a:t>
            </a:r>
            <a:r>
              <a:rPr lang="en-IN" sz="1900" dirty="0"/>
              <a:t> – Provide AI reasoning, confidence scores, and source citations for transparent legal assistance.</a:t>
            </a:r>
            <a:endParaRPr sz="19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B888011B-E4AC-77DB-4A60-BE2C891C49F5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91F05971-9256-10B5-6575-4E7C679C6DAA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F1C3EBC2-438F-C150-9ABF-F14321C2CC5C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1367067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F1C7BCA-5DD7-F4D3-A937-D1C56976DA01}"/>
              </a:ext>
            </a:extLst>
          </p:cNvPr>
          <p:cNvSpPr txBox="1"/>
          <p:nvPr/>
        </p:nvSpPr>
        <p:spPr>
          <a:xfrm>
            <a:off x="327949" y="207380"/>
            <a:ext cx="6096000" cy="95410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 dirty="0"/>
              <a:t>Certificates Earned:</a:t>
            </a:r>
          </a:p>
          <a:p>
            <a:pPr algn="ctr"/>
            <a:endParaRPr lang="en-US" sz="2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0C1D08E-E768-BFC7-A0C1-77587B0D3F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3309" y="894269"/>
            <a:ext cx="10241280" cy="575635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22904765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A8544A9-CF92-3FAF-D3EE-31DF90F7A64D}"/>
              </a:ext>
            </a:extLst>
          </p:cNvPr>
          <p:cNvSpPr txBox="1"/>
          <p:nvPr/>
        </p:nvSpPr>
        <p:spPr>
          <a:xfrm>
            <a:off x="176696" y="226391"/>
            <a:ext cx="6096000" cy="95410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 i="0" u="none" strike="noStrike" baseline="0" dirty="0">
                <a:solidFill>
                  <a:srgbClr val="000000"/>
                </a:solidFill>
                <a:latin typeface="Arial"/>
              </a:rPr>
              <a:t>Certificates Earned:</a:t>
            </a:r>
            <a:r>
              <a:rPr sz="2800" b="0" i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​</a:t>
            </a:r>
            <a:endParaRPr lang="en-US" sz="2800" dirty="0"/>
          </a:p>
          <a:p>
            <a:pPr algn="ctr"/>
            <a:endParaRPr lang="en-US" sz="28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F33F5CE-2234-FB37-A2A6-A76FD439B7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3454505" y="-1489522"/>
            <a:ext cx="5600333" cy="1018032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50661074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6F15AE-F237-840F-302E-8109422FCE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7437" y="149289"/>
            <a:ext cx="6222653" cy="652811"/>
          </a:xfrm>
        </p:spPr>
        <p:txBody>
          <a:bodyPr>
            <a:normAutofit/>
          </a:bodyPr>
          <a:lstStyle/>
          <a:p>
            <a:r>
              <a:rPr lang="en-US" sz="2800" b="1" dirty="0">
                <a:latin typeface="+mj-lt"/>
              </a:rPr>
              <a:t>IBM SKILLSBUILD PROFILE</a:t>
            </a:r>
            <a:endParaRPr lang="en-IN" sz="2800" b="1" dirty="0">
              <a:latin typeface="+mj-lt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ADF3520-E3B0-B6C7-0D20-54D1EF1752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5758" y="1007705"/>
            <a:ext cx="10787602" cy="562195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79499187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0" name="Google Shape;310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2190302"/>
            <a:ext cx="12192000" cy="24773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630</TotalTime>
  <Words>1092</Words>
  <Application>Microsoft Office PowerPoint</Application>
  <PresentationFormat>Widescreen</PresentationFormat>
  <Paragraphs>123</Paragraphs>
  <Slides>20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Calibri</vt:lpstr>
      <vt:lpstr>Times New Roman</vt:lpstr>
      <vt:lpstr>Office Theme</vt:lpstr>
      <vt:lpstr>IBM University Engagement Project Submission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IBM SKILLSBUILD PROFILE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Manda Anirudh</dc:creator>
  <cp:lastModifiedBy>Sailaja Jameelu</cp:lastModifiedBy>
  <cp:revision>11</cp:revision>
  <dcterms:created xsi:type="dcterms:W3CDTF">2025-07-08T05:06:56Z</dcterms:created>
  <dcterms:modified xsi:type="dcterms:W3CDTF">2026-07-10T16:11:33Z</dcterms:modified>
</cp:coreProperties>
</file>